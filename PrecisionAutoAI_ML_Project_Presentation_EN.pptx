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MACHINE LEARNING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498079" cy="12344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5000" b="1">
                <a:solidFill>
                  <a:srgbClr val="EBF3FA"/>
                </a:solidFill>
                <a:latin typeface="Aptos Display"/>
              </a:rPr>
              <a:t>PrecisionAutoAI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2148840"/>
            <a:ext cx="7498079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 dirty="0" err="1">
                <a:solidFill>
                  <a:srgbClr val="91A0B4"/>
                </a:solidFill>
                <a:latin typeface="Aptos"/>
              </a:rPr>
              <a:t>An ML project trained in Colab, deployed through a Flask interface, and designed to estimate used-car prices in 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108,540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raw listings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55264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FINAL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99,322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after cleaning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2976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7568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0.968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XGBoost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4315968"/>
            <a:ext cx="22402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4453128"/>
            <a:ext cx="19659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4700016"/>
            <a:ext cx="19659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265K 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5020056"/>
            <a:ext cx="19659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average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603504"/>
            <a:ext cx="2880360" cy="292608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68512" y="932688"/>
            <a:ext cx="219456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00" b="1">
                <a:solidFill>
                  <a:srgbClr val="91A0B4"/>
                </a:solidFill>
                <a:latin typeface="Aptos"/>
              </a:rPr>
              <a:t>Project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1316736"/>
            <a:ext cx="2304288" cy="20836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1" dirty="0">
                <a:solidFill>
                  <a:srgbClr val="EBF3FA"/>
                </a:solidFill>
                <a:latin typeface="Aptos"/>
              </a:rPr>
              <a:t>A trained regression pipeline plus a web interface where users can enter vehicle details and receive a TRY price estimate.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The project turns raw UK used-car listings into a Turkey-oriented TRY price estimator.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Goal: predict the expected used-car price from brand, model, year, km, fuel type, transmission and engine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3154680" cy="26060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256032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Why the problem matters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944368"/>
            <a:ext cx="2700874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Used-car prices are noisy and depend on many factors.</a:t>
            </a:r>
          </a:p>
        </p:txBody>
      </p:sp>
      <p:sp>
        <p:nvSpPr>
          <p:cNvPr id="11" name="Oval 10"/>
          <p:cNvSpPr/>
          <p:nvPr/>
        </p:nvSpPr>
        <p:spPr>
          <a:xfrm>
            <a:off x="909828" y="350422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432394"/>
            <a:ext cx="2560320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>
                <a:solidFill>
                  <a:srgbClr val="EBF3FA"/>
                </a:solidFill>
                <a:latin typeface="Aptos"/>
              </a:rPr>
              <a:t>Age, mileage and engine size strongly affect valuation.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589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881204"/>
            <a:ext cx="2423160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Turkey requires currency and tax localization.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148840"/>
            <a:ext cx="3154680" cy="26060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432304"/>
            <a:ext cx="256032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ML task definition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301752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2944368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Supervised regression problem.</a:t>
            </a:r>
          </a:p>
        </p:txBody>
      </p:sp>
      <p:sp>
        <p:nvSpPr>
          <p:cNvPr id="19" name="Oval 18"/>
          <p:cNvSpPr/>
          <p:nvPr/>
        </p:nvSpPr>
        <p:spPr>
          <a:xfrm>
            <a:off x="4480560" y="340156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8" y="3328416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Target variable: localized price_tl.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3785616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712464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Evaluation: MAE, RMSE and R2.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148840"/>
            <a:ext cx="3154680" cy="26060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2432304"/>
            <a:ext cx="256032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Final product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0" y="301752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2944368"/>
            <a:ext cx="2276856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Reusable preprocessing artifacts.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0" y="351586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432394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XGBoost model saved with joblib.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0" y="397306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2168" y="3891573"/>
            <a:ext cx="242316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Flask UI for user-friendly prediction.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Kaggle's 100k UK used-car dataset gave the model broad brand coverage.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Source: adityadesai13/used-car-dataset-ford-and-mercedes; scraped used-car listings split into manufacturer CSV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48256"/>
            <a:ext cx="5623560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34747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EBF3FA"/>
                </a:solidFill>
                <a:latin typeface="Aptos"/>
              </a:rPr>
              <a:t>Raw rows by brand after merging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Ford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77063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2770632"/>
            <a:ext cx="2743199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272491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23,419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2768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Mercedes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05511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80" y="3055112"/>
            <a:ext cx="1993414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300939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17,018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216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Volkswagen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33959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68880" y="3339592"/>
            <a:ext cx="1775425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329387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15,157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9664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Opel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62407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68880" y="3624072"/>
            <a:ext cx="1596793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357835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13,632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112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BMW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90855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68880" y="3908552"/>
            <a:ext cx="1262839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0" y="386283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10,781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560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Audi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19303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468880" y="4193032"/>
            <a:ext cx="1249603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0" y="414731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10,668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5008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Toyota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447751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468880" y="4477512"/>
            <a:ext cx="789260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0" y="443179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6,738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73456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Skoda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76199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468880" y="4761992"/>
            <a:ext cx="734089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0" y="471627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6,267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19040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Hyundai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5046472"/>
            <a:ext cx="2743199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68880" y="5046472"/>
            <a:ext cx="569279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0" y="5000752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4,860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2048256"/>
            <a:ext cx="4434840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03720" y="2359152"/>
            <a:ext cx="17830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68312" y="2496312"/>
            <a:ext cx="1508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CSV FILES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2743200"/>
            <a:ext cx="15087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292F0"/>
                </a:solidFill>
                <a:latin typeface="Aptos Display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68312" y="3063240"/>
            <a:ext cx="15087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manufacturer files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2359152"/>
            <a:ext cx="17830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2" y="2496312"/>
            <a:ext cx="15087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COLUMNS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2" y="2743200"/>
            <a:ext cx="15087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5B246"/>
                </a:solidFill>
                <a:latin typeface="Aptos Display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3063240"/>
            <a:ext cx="15087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after dropping tax/mpg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3703320"/>
            <a:ext cx="361188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Core features used</a:t>
            </a:r>
          </a:p>
        </p:txBody>
      </p:sp>
      <p:sp>
        <p:nvSpPr>
          <p:cNvPr id="55" name="Oval 54"/>
          <p:cNvSpPr/>
          <p:nvPr/>
        </p:nvSpPr>
        <p:spPr>
          <a:xfrm>
            <a:off x="6931152" y="420624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86600" y="4133087"/>
            <a:ext cx="32918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model, year, transmission</a:t>
            </a:r>
          </a:p>
        </p:txBody>
      </p:sp>
      <p:sp>
        <p:nvSpPr>
          <p:cNvPr id="57" name="Oval 56"/>
          <p:cNvSpPr/>
          <p:nvPr/>
        </p:nvSpPr>
        <p:spPr>
          <a:xfrm>
            <a:off x="6931152" y="451713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6600" y="4443983"/>
            <a:ext cx="32918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mileage, fuelType, engineSize</a:t>
            </a:r>
          </a:p>
        </p:txBody>
      </p:sp>
      <p:sp>
        <p:nvSpPr>
          <p:cNvPr id="59" name="Oval 58"/>
          <p:cNvSpPr/>
          <p:nvPr/>
        </p:nvSpPr>
        <p:spPr>
          <a:xfrm>
            <a:off x="6931152" y="4828031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086600" y="4754879"/>
            <a:ext cx="329183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brand added during merge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989320"/>
            <a:ext cx="9966960" cy="2377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00" b="0">
                <a:solidFill>
                  <a:srgbClr val="77879C"/>
                </a:solidFill>
                <a:latin typeface="Aptos"/>
              </a:rPr>
              <a:t>Kaggle source: https://www.kaggle.com/datasets/adityadesai13/used-car-dataset-ford-and-mercedes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Data noise was systematically reduced before model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The pipeline removed impossible engine values, restricted the year range, grouped rare models and filtered outliers with IQR.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43DAC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Merge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56432"/>
            <a:ext cx="1389888" cy="4843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11 CSV files were read and every row received a brand label.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5B24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456432"/>
            <a:ext cx="1719072" cy="3352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Hyundai tax column was normalized; tax/mpg columns were removed.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43DAC6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456432"/>
            <a:ext cx="1883664" cy="3352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286 engineSize=0 rows and invalid year values were removed.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263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F5B246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Grouping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3456432"/>
            <a:ext cx="1453896" cy="4843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193 models were reduced to 113 after rare models with &lt;=100 rows were mapped to Other.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331720"/>
            <a:ext cx="1783080" cy="2560320"/>
          </a:xfrm>
          <a:prstGeom prst="rect">
            <a:avLst/>
          </a:prstGeom>
          <a:solidFill>
            <a:srgbClr val="111B2C"/>
          </a:solidFill>
          <a:ln w="762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91472" y="2578608"/>
            <a:ext cx="365760" cy="32918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43DAC6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971800"/>
            <a:ext cx="132588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EBF3FA"/>
                </a:solidFill>
                <a:latin typeface="Aptos"/>
              </a:rPr>
              <a:t>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4322" y="3429000"/>
            <a:ext cx="1568196" cy="3352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9" b="0" dirty="0">
                <a:solidFill>
                  <a:srgbClr val="91A0B4"/>
                </a:solidFill>
                <a:latin typeface="Aptos"/>
              </a:rPr>
              <a:t>IQR removed 8,907 rows; 99,322 rows remained.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EDA confirmed that age, transmission and engine size carry price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Before model selection, distributions, correlations and nonlinear relationships were examined through notebook visuals.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38528"/>
            <a:ext cx="5074920" cy="3438144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21408"/>
            <a:ext cx="4681728" cy="29057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0" y="1938528"/>
            <a:ext cx="5074920" cy="3438144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ell_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148840"/>
            <a:ext cx="3689101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77840"/>
            <a:ext cx="457200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91A0B4"/>
                </a:solidFill>
                <a:latin typeface="Aptos"/>
              </a:rPr>
              <a:t>Newer vehicles are generally more expensive; the heatmap supports year and engineSize as important numerical drivers.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79008"/>
            <a:ext cx="457200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050" b="0" dirty="0">
                <a:solidFill>
                  <a:srgbClr val="91A0B4"/>
                </a:solidFill>
                <a:latin typeface="Aptos"/>
              </a:rPr>
              <a:t>Because correlation alone is not enough, nonlinear ensemble models were also tested.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LOCALIZATION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The target variable was adapted from UK list price to a Turkey-oriented TRY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This made the project closer to the intended UI experience instead of predicting raw GBP values.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834640" cy="256032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24028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Currency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2057400" cy="7315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900" b="1">
                <a:solidFill>
                  <a:srgbClr val="43DAC6"/>
                </a:solidFill>
                <a:latin typeface="Aptos Display"/>
              </a:rPr>
              <a:t>GBP price x 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58768"/>
            <a:ext cx="2368296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>
                <a:solidFill>
                  <a:srgbClr val="91A0B4"/>
                </a:solidFill>
                <a:latin typeface="Aptos"/>
              </a:rPr>
              <a:t>The fixed exchange rate in the notebook was used.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48840"/>
            <a:ext cx="2834640" cy="256032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224028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2057400" cy="7315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500" b="1">
                <a:solidFill>
                  <a:srgbClr val="5292F0"/>
                </a:solidFill>
                <a:latin typeface="Aptos Display"/>
              </a:rPr>
              <a:t>miles x 1.609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58768"/>
            <a:ext cx="2414016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dirty="0" err="1">
                <a:solidFill>
                  <a:srgbClr val="91A0B4"/>
                </a:solidFill>
                <a:latin typeface="Aptos"/>
              </a:rPr>
              <a:t>After conversion, the mileage column was renamed to km.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148840"/>
            <a:ext cx="2834640" cy="256032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2468880"/>
            <a:ext cx="2240280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EBF3FA"/>
                </a:solidFill>
                <a:latin typeface="Aptos"/>
              </a:rPr>
              <a:t>Tax multiplier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072384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2999232"/>
            <a:ext cx="20116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Aptos"/>
              </a:rPr>
              <a:t>&lt;=1.6L: x3.0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346557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3392424"/>
            <a:ext cx="20116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Aptos"/>
              </a:rPr>
              <a:t>&lt;=2.0L: x4.5</a:t>
            </a:r>
          </a:p>
        </p:txBody>
      </p:sp>
      <p:sp>
        <p:nvSpPr>
          <p:cNvPr id="21" name="Oval 20"/>
          <p:cNvSpPr/>
          <p:nvPr/>
        </p:nvSpPr>
        <p:spPr>
          <a:xfrm>
            <a:off x="7726679" y="385876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3785615"/>
            <a:ext cx="20116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EBF3FA"/>
                </a:solidFill>
                <a:latin typeface="Aptos"/>
              </a:rPr>
              <a:t>&gt;2.0L: x6.0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9601200" cy="34747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EBF3FA"/>
                </a:solidFill>
                <a:latin typeface="Aptos"/>
              </a:rPr>
              <a:t>Result: the final target variable became price_tl, a localized price estimate aligned with the deployed UI output.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The preprocessing pipeline kept training and deployment behavior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The same encoders, scaler and feature order were saved as artifacts and reused in Flask.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Raw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54680"/>
            <a:ext cx="1545336" cy="461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brand, model, year, km, transmission,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fuelType</a:t>
            </a:r>
            <a:r>
              <a:rPr sz="919" b="0" dirty="0">
                <a:solidFill>
                  <a:srgbClr val="91A0B4"/>
                </a:solidFill>
                <a:latin typeface="Aptos"/>
              </a:rPr>
              <a:t>, </a:t>
            </a:r>
            <a:r>
              <a:rPr sz="919" b="0" dirty="0" err="1">
                <a:solidFill>
                  <a:srgbClr val="91A0B4"/>
                </a:solidFill>
                <a:latin typeface="Aptos"/>
              </a:rPr>
              <a:t>engineSize</a:t>
            </a:r>
            <a:endParaRPr sz="919" b="0" dirty="0">
              <a:solidFill>
                <a:srgbClr val="91A0B4"/>
              </a:solidFill>
              <a:latin typeface="Apto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340864" y="3154680"/>
            <a:ext cx="384048" cy="237744"/>
          </a:xfrm>
          <a:prstGeom prst="rightArrow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Encoding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154680"/>
            <a:ext cx="1417320" cy="60272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LabelEncoder for brand/model; BinaryEncoder for transmission/fuelType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81144" y="3154680"/>
            <a:ext cx="384048" cy="237744"/>
          </a:xfrm>
          <a:prstGeom prst="rightArrow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4748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3154680"/>
            <a:ext cx="1417320" cy="3198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StandardScaler for km, engineSize and year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21424" y="3154680"/>
            <a:ext cx="384048" cy="237744"/>
          </a:xfrm>
          <a:prstGeom prst="rightArrow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8776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3154680"/>
            <a:ext cx="1417320" cy="3198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XGBRegressor trained with an 80/20 train-test split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61704" y="3154680"/>
            <a:ext cx="384048" cy="237744"/>
          </a:xfrm>
          <a:prstGeom prst="rightArrow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28048" y="2423160"/>
            <a:ext cx="1737360" cy="1920240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74352" y="2697480"/>
            <a:ext cx="141732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Artifact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3154680"/>
            <a:ext cx="1472184" cy="461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dirty="0">
                <a:solidFill>
                  <a:srgbClr val="91A0B4"/>
                </a:solidFill>
                <a:latin typeface="Aptos"/>
              </a:rPr>
              <a:t>joblib package containing model + preprocessing objects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292F0"/>
                </a:solidFill>
                <a:latin typeface="Aptos Display"/>
              </a:rPr>
              <a:t>80/20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random_state=42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0712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SCALED COLS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km, engineSize, year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42431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CATEGORICAL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1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5B246"/>
                </a:solidFill>
                <a:latin typeface="Aptos Display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1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encoded inputs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5074920"/>
            <a:ext cx="201168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74152" y="5212080"/>
            <a:ext cx="173736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DEPLOY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5458968"/>
            <a:ext cx="173736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1C987"/>
                </a:solidFill>
                <a:latin typeface="Aptos Display"/>
              </a:rPr>
              <a:t>pkl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5779008"/>
            <a:ext cx="173736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model artifacts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Ensemble models clearly outperformed linear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Nine regression models were compared using the same train/test split and preprocessing.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5669280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3749039" cy="23774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EBF3FA"/>
                </a:solidFill>
                <a:latin typeface="Aptos"/>
              </a:rPr>
              <a:t>Test R2 by model before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Linear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7523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14600" y="2752344"/>
            <a:ext cx="2304288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27066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043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Lasso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0317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14600" y="3031744"/>
            <a:ext cx="2304288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29860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837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Ridge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3111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14600" y="3311144"/>
            <a:ext cx="2304288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32654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631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KNN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5905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14600" y="3590544"/>
            <a:ext cx="2773786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35448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425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Decision Tree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8699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14600" y="3869944"/>
            <a:ext cx="2733461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0" y="38242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219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1493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14600" y="4149344"/>
            <a:ext cx="2782427" cy="146304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0" y="41036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013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AdaBoost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4287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14600" y="4428744"/>
            <a:ext cx="2405100" cy="146304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0" y="43830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0.835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807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Gradient 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47081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14600" y="4708144"/>
            <a:ext cx="2696016" cy="146304"/>
          </a:xfrm>
          <a:prstGeom prst="rect">
            <a:avLst/>
          </a:prstGeom>
          <a:solidFill>
            <a:srgbClr val="51C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0" y="46624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960112"/>
            <a:ext cx="146304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EBF3FA"/>
                </a:solidFill>
                <a:latin typeface="Aptos"/>
              </a:rPr>
              <a:t>XGBoost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4987544"/>
            <a:ext cx="2880360" cy="146304"/>
          </a:xfrm>
          <a:prstGeom prst="rect">
            <a:avLst/>
          </a:prstGeom>
          <a:solidFill>
            <a:srgbClr val="24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14600" y="4987544"/>
            <a:ext cx="2782427" cy="146304"/>
          </a:xfrm>
          <a:prstGeom prst="rect">
            <a:avLst/>
          </a:prstGeom>
          <a:solidFill>
            <a:srgbClr val="529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0" y="4941824"/>
            <a:ext cx="4572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50" b="0">
                <a:solidFill>
                  <a:srgbClr val="91A0B4"/>
                </a:solidFill>
                <a:latin typeface="Aptos"/>
              </a:rPr>
              <a:t>0.966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2057400"/>
            <a:ext cx="3749039" cy="352044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86600" y="2359152"/>
            <a:ext cx="2971800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Main interpretation</a:t>
            </a:r>
          </a:p>
        </p:txBody>
      </p:sp>
      <p:sp>
        <p:nvSpPr>
          <p:cNvPr id="47" name="Oval 46"/>
          <p:cNvSpPr/>
          <p:nvPr/>
        </p:nvSpPr>
        <p:spPr>
          <a:xfrm>
            <a:off x="7095744" y="292608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51192" y="2852928"/>
            <a:ext cx="26974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20" b="0">
                <a:solidFill>
                  <a:srgbClr val="EBF3FA"/>
                </a:solidFill>
                <a:latin typeface="Aptos"/>
              </a:rPr>
              <a:t>Linear models stayed around 0.80 R2.</a:t>
            </a:r>
          </a:p>
        </p:txBody>
      </p:sp>
      <p:sp>
        <p:nvSpPr>
          <p:cNvPr id="49" name="Oval 48"/>
          <p:cNvSpPr/>
          <p:nvPr/>
        </p:nvSpPr>
        <p:spPr>
          <a:xfrm>
            <a:off x="7095744" y="3273552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51192" y="3200400"/>
            <a:ext cx="3310127" cy="3816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dirty="0">
                <a:solidFill>
                  <a:srgbClr val="EBF3FA"/>
                </a:solidFill>
                <a:latin typeface="Aptos"/>
              </a:rPr>
              <a:t>KNN, Random Forest and XGBoost captured nonlinear patterns.</a:t>
            </a:r>
          </a:p>
        </p:txBody>
      </p:sp>
      <p:sp>
        <p:nvSpPr>
          <p:cNvPr id="51" name="Oval 50"/>
          <p:cNvSpPr/>
          <p:nvPr/>
        </p:nvSpPr>
        <p:spPr>
          <a:xfrm>
            <a:off x="7086600" y="374777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51192" y="3687064"/>
            <a:ext cx="3172968" cy="3816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dirty="0">
                <a:solidFill>
                  <a:srgbClr val="EBF3FA"/>
                </a:solidFill>
                <a:latin typeface="Aptos"/>
              </a:rPr>
              <a:t>Decision Tree showed clear overfitting: train R2 0.999, test R2 0.949.</a:t>
            </a:r>
          </a:p>
        </p:txBody>
      </p:sp>
      <p:sp>
        <p:nvSpPr>
          <p:cNvPr id="53" name="Oval 52"/>
          <p:cNvSpPr/>
          <p:nvPr/>
        </p:nvSpPr>
        <p:spPr>
          <a:xfrm>
            <a:off x="7086600" y="4236212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51192" y="4163568"/>
            <a:ext cx="2697479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20" b="0" dirty="0">
                <a:solidFill>
                  <a:srgbClr val="EBF3FA"/>
                </a:solidFill>
                <a:latin typeface="Aptos"/>
              </a:rPr>
              <a:t>XGBoost was selected for hyperparameter tuning.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FINAL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Tuned XGBoost produced the strongest final test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RandomizedSearchCV selected tree depth, learning rate and column sampling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43DAC6"/>
                </a:solidFill>
                <a:latin typeface="Aptos Display"/>
              </a:rPr>
              <a:t>0.968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explained variance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F5B246"/>
                </a:solidFill>
                <a:latin typeface="Aptos Display"/>
              </a:rPr>
              <a:t>265,370 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mean absolute 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TEST 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292F0"/>
                </a:solidFill>
                <a:latin typeface="Aptos Display"/>
              </a:rPr>
              <a:t>417,255 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penalizes large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194560"/>
            <a:ext cx="2194560" cy="987552"/>
          </a:xfrm>
          <a:prstGeom prst="rect">
            <a:avLst/>
          </a:prstGeom>
          <a:solidFill>
            <a:srgbClr val="111B2C"/>
          </a:solidFill>
          <a:ln w="7620">
            <a:solidFill>
              <a:srgbClr val="2A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2331720"/>
            <a:ext cx="1920240" cy="18288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1">
                <a:solidFill>
                  <a:srgbClr val="91A0B4"/>
                </a:solidFill>
                <a:latin typeface="Aptos"/>
              </a:rPr>
              <a:t>TRAIN 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578608"/>
            <a:ext cx="192024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51C987"/>
                </a:solidFill>
                <a:latin typeface="Aptos Display"/>
              </a:rPr>
              <a:t>0.986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98648"/>
            <a:ext cx="192024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819" b="0">
                <a:solidFill>
                  <a:srgbClr val="91A0B4"/>
                </a:solidFill>
                <a:latin typeface="Aptos"/>
              </a:rPr>
              <a:t>fit quality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794760"/>
            <a:ext cx="4343400" cy="150876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4069080"/>
            <a:ext cx="356616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Best tuning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480560"/>
            <a:ext cx="3950208" cy="5678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91A0B4"/>
                </a:solidFill>
                <a:latin typeface="Aptos"/>
              </a:rPr>
              <a:t>Selected: max_depth=12, learning_rate=0.1, colsample_bytree=0.7, n_estimators=100; the final training used 200 estimators.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3794760"/>
            <a:ext cx="4343400" cy="150876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53328" y="4069080"/>
            <a:ext cx="356616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EBF3FA"/>
                </a:solidFill>
                <a:latin typeface="Aptos"/>
              </a:rPr>
              <a:t>What the error means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480560"/>
            <a:ext cx="3913632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91A0B4"/>
                </a:solidFill>
                <a:latin typeface="Aptos"/>
              </a:rPr>
              <a:t>After localization, the average absolute deviation is about 265K TRY; expensive and rare configurations remain harder.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The final model's strongest signals align with real used-car pricing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The feature importance chart shows year and engine size as leading signals for the localized Turkey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93392"/>
            <a:ext cx="5623560" cy="3584448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ell_5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67712"/>
            <a:ext cx="5029200" cy="30263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0840" y="1993392"/>
            <a:ext cx="3977639" cy="3584448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2331720"/>
            <a:ext cx="315468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EBF3FA"/>
                </a:solidFill>
                <a:latin typeface="Aptos"/>
              </a:rPr>
              <a:t>Technical insight</a:t>
            </a:r>
          </a:p>
        </p:txBody>
      </p:sp>
      <p:sp>
        <p:nvSpPr>
          <p:cNvPr id="11" name="Oval 10"/>
          <p:cNvSpPr/>
          <p:nvPr/>
        </p:nvSpPr>
        <p:spPr>
          <a:xfrm>
            <a:off x="6967728" y="295351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23176" y="2880360"/>
            <a:ext cx="297180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Year represents depreciation and market recency.</a:t>
            </a:r>
          </a:p>
        </p:txBody>
      </p:sp>
      <p:sp>
        <p:nvSpPr>
          <p:cNvPr id="13" name="Oval 12"/>
          <p:cNvSpPr/>
          <p:nvPr/>
        </p:nvSpPr>
        <p:spPr>
          <a:xfrm>
            <a:off x="6967728" y="3300984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23176" y="3227832"/>
            <a:ext cx="297180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150" b="0">
                <a:solidFill>
                  <a:srgbClr val="EBF3FA"/>
                </a:solidFill>
                <a:latin typeface="Aptos"/>
              </a:rPr>
              <a:t>EngineSize affects both base value and the tax multiplier.</a:t>
            </a:r>
          </a:p>
        </p:txBody>
      </p:sp>
      <p:sp>
        <p:nvSpPr>
          <p:cNvPr id="15" name="Oval 14"/>
          <p:cNvSpPr/>
          <p:nvPr/>
        </p:nvSpPr>
        <p:spPr>
          <a:xfrm>
            <a:off x="6967728" y="3648456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3176" y="3575304"/>
            <a:ext cx="3493008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BF3FA"/>
                </a:solidFill>
                <a:latin typeface="Aptos"/>
              </a:rPr>
              <a:t>Encoded model/brand fields add segment-level price signal.</a:t>
            </a:r>
          </a:p>
        </p:txBody>
      </p:sp>
      <p:sp>
        <p:nvSpPr>
          <p:cNvPr id="17" name="Oval 16"/>
          <p:cNvSpPr/>
          <p:nvPr/>
        </p:nvSpPr>
        <p:spPr>
          <a:xfrm>
            <a:off x="6967728" y="4078224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3176" y="4014216"/>
            <a:ext cx="3419856" cy="3908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>
                <a:solidFill>
                  <a:srgbClr val="EBF3FA"/>
                </a:solidFill>
                <a:latin typeface="Aptos"/>
              </a:rPr>
              <a:t>Km is important, but it works interactively with year and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UI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3" y="365761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 dirty="0">
                <a:solidFill>
                  <a:srgbClr val="EBF3FA"/>
                </a:solidFill>
                <a:latin typeface="Aptos Display"/>
              </a:rPr>
              <a:t>The model was converted into a usable prediction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41249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91A0B4"/>
                </a:solidFill>
                <a:latin typeface="Aptos"/>
              </a:rPr>
              <a:t>Flask loads the saved artifact package, validates user input, applies the same preprocessing and returns a TRY estimate.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6400800" cy="4005072"/>
          </a:xfrm>
          <a:prstGeom prst="rect">
            <a:avLst/>
          </a:prstGeom>
          <a:solidFill>
            <a:srgbClr val="F6F8FC"/>
          </a:solidFill>
          <a:ln w="762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ecisionautoai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53" y="1155548"/>
            <a:ext cx="6847438" cy="570245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1837944"/>
            <a:ext cx="3429000" cy="4005072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2" y="2212848"/>
            <a:ext cx="2788920" cy="31089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Implementation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7662672" y="277063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2926080" cy="3785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10" b="0" dirty="0">
                <a:solidFill>
                  <a:srgbClr val="EBF3FA"/>
                </a:solidFill>
                <a:latin typeface="Aptos"/>
              </a:rPr>
              <a:t>The brand is selected first, then the model list is filtered in the UI.</a:t>
            </a:r>
          </a:p>
        </p:txBody>
      </p:sp>
      <p:sp>
        <p:nvSpPr>
          <p:cNvPr id="13" name="Oval 12"/>
          <p:cNvSpPr/>
          <p:nvPr/>
        </p:nvSpPr>
        <p:spPr>
          <a:xfrm>
            <a:off x="7662672" y="312724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3054096"/>
            <a:ext cx="2926080" cy="3785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10" b="0" dirty="0">
                <a:solidFill>
                  <a:srgbClr val="EBF3FA"/>
                </a:solidFill>
                <a:latin typeface="Aptos"/>
              </a:rPr>
              <a:t>Unsupported model values safely fall back to Other.</a:t>
            </a:r>
          </a:p>
        </p:txBody>
      </p:sp>
      <p:sp>
        <p:nvSpPr>
          <p:cNvPr id="15" name="Oval 14"/>
          <p:cNvSpPr/>
          <p:nvPr/>
        </p:nvSpPr>
        <p:spPr>
          <a:xfrm>
            <a:off x="7662672" y="3483864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410712"/>
            <a:ext cx="2926080" cy="3785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10" b="0" dirty="0">
                <a:solidFill>
                  <a:srgbClr val="EBF3FA"/>
                </a:solidFill>
                <a:latin typeface="Aptos"/>
              </a:rPr>
              <a:t>The backend uses saved encoders, scaler and feature columns.</a:t>
            </a:r>
          </a:p>
        </p:txBody>
      </p:sp>
      <p:sp>
        <p:nvSpPr>
          <p:cNvPr id="17" name="Oval 16"/>
          <p:cNvSpPr/>
          <p:nvPr/>
        </p:nvSpPr>
        <p:spPr>
          <a:xfrm>
            <a:off x="7662672" y="384048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3767327"/>
            <a:ext cx="2926080" cy="3785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10" b="0" dirty="0" err="1">
                <a:solidFill>
                  <a:srgbClr val="EBF3FA"/>
                </a:solidFill>
                <a:latin typeface="Aptos"/>
              </a:rPr>
              <a:t>Dockerfile</a:t>
            </a:r>
            <a:r>
              <a:rPr sz="1110" b="0" dirty="0">
                <a:solidFill>
                  <a:srgbClr val="EBF3FA"/>
                </a:solidFill>
                <a:latin typeface="Aptos"/>
              </a:rPr>
              <a:t>/</a:t>
            </a:r>
            <a:r>
              <a:rPr sz="1110" b="0" dirty="0" err="1">
                <a:solidFill>
                  <a:srgbClr val="EBF3FA"/>
                </a:solidFill>
                <a:latin typeface="Aptos"/>
              </a:rPr>
              <a:t>Procfile</a:t>
            </a:r>
            <a:r>
              <a:rPr sz="1110" b="0" dirty="0">
                <a:solidFill>
                  <a:srgbClr val="EBF3FA"/>
                </a:solidFill>
                <a:latin typeface="Aptos"/>
              </a:rPr>
              <a:t> make the deployment path explicit.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92608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00" b="0">
                <a:solidFill>
                  <a:srgbClr val="EBF3FA"/>
                </a:solidFill>
                <a:latin typeface="Aptos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393192"/>
            <a:ext cx="201168" cy="45720"/>
          </a:xfrm>
          <a:prstGeom prst="rect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310896"/>
            <a:ext cx="4114800" cy="2560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900" b="1">
                <a:solidFill>
                  <a:srgbClr val="91A0B4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7863840" cy="84124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3000" b="1">
                <a:solidFill>
                  <a:srgbClr val="EBF3FA"/>
                </a:solidFill>
                <a:latin typeface="Aptos Display"/>
              </a:rPr>
              <a:t>The project delivered a high-performing regression model and a deployable user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90472"/>
            <a:ext cx="7040880" cy="420624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91A0B4"/>
                </a:solidFill>
                <a:latin typeface="Aptos"/>
              </a:rPr>
              <a:t>The main value is not only the model score, but the full ML path from data cleaning to a working prediction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2926080" cy="292608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What was achieved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86207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2788920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99,322 usable rows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20040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3127248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TRY-localized target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5387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465576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0.968 test R2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87705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803904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Flask UI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011680"/>
            <a:ext cx="2926080" cy="292608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304288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Limitations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286207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7" y="2788920"/>
            <a:ext cx="2487169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UK listing source, not Turkish sales data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3264408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3181256"/>
            <a:ext cx="2274844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Fixed exchange rate and tax assumptions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0" y="3657600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7" y="3583591"/>
            <a:ext cx="2274845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Rare models were grouped as Other</a:t>
            </a:r>
          </a:p>
        </p:txBody>
      </p:sp>
      <p:sp>
        <p:nvSpPr>
          <p:cNvPr id="25" name="Oval 24"/>
          <p:cNvSpPr/>
          <p:nvPr/>
        </p:nvSpPr>
        <p:spPr>
          <a:xfrm>
            <a:off x="4558284" y="406908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995928"/>
            <a:ext cx="2159995" cy="40934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10" b="0" dirty="0">
                <a:solidFill>
                  <a:srgbClr val="EBF3FA"/>
                </a:solidFill>
                <a:latin typeface="Aptos"/>
              </a:rPr>
              <a:t>No live market/inflation update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011680"/>
            <a:ext cx="2926080" cy="2926080"/>
          </a:xfrm>
          <a:prstGeom prst="rect">
            <a:avLst/>
          </a:prstGeom>
          <a:solidFill>
            <a:srgbClr val="161F31"/>
          </a:solidFill>
          <a:ln w="7620">
            <a:solidFill>
              <a:srgbClr val="35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304288"/>
            <a:ext cx="22402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BF3FA"/>
                </a:solidFill>
                <a:latin typeface="Aptos"/>
              </a:rPr>
              <a:t>Next steps</a:t>
            </a:r>
          </a:p>
        </p:txBody>
      </p:sp>
      <p:sp>
        <p:nvSpPr>
          <p:cNvPr id="29" name="Oval 28"/>
          <p:cNvSpPr/>
          <p:nvPr/>
        </p:nvSpPr>
        <p:spPr>
          <a:xfrm>
            <a:off x="8138160" y="2862072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8" y="2788920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Add local marketplace data</a:t>
            </a:r>
          </a:p>
        </p:txBody>
      </p:sp>
      <p:sp>
        <p:nvSpPr>
          <p:cNvPr id="31" name="Oval 30"/>
          <p:cNvSpPr/>
          <p:nvPr/>
        </p:nvSpPr>
        <p:spPr>
          <a:xfrm>
            <a:off x="8138160" y="3200400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3127248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Add SHAP explanations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8138160" y="3538728"/>
            <a:ext cx="64008" cy="64008"/>
          </a:xfrm>
          <a:prstGeom prst="ellipse">
            <a:avLst/>
          </a:prstGeom>
          <a:solidFill>
            <a:srgbClr val="4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93608" y="3465576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Track model drift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3877056"/>
            <a:ext cx="64008" cy="64008"/>
          </a:xfrm>
          <a:prstGeom prst="ellipse">
            <a:avLst/>
          </a:prstGeom>
          <a:solidFill>
            <a:srgbClr val="F5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3608" y="3803904"/>
            <a:ext cx="2103120" cy="21945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10" b="0">
                <a:solidFill>
                  <a:srgbClr val="EBF3FA"/>
                </a:solidFill>
                <a:latin typeface="Aptos"/>
              </a:rPr>
              <a:t>Add confidence intervals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42432"/>
            <a:ext cx="9966960" cy="4216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1" dirty="0" err="1">
                <a:solidFill>
                  <a:srgbClr val="EBF3FA"/>
                </a:solidFill>
                <a:latin typeface="Aptos"/>
              </a:rPr>
              <a:t>Conclusion: PrecisionAutoAI is a complete ML project covering data acquisition, preprocessing, feature engineering, model selection, tuning, evaluation, interpretation and UI deployment.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594360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750" b="0">
                <a:solidFill>
                  <a:srgbClr val="647287"/>
                </a:solidFill>
                <a:latin typeface="Aptos"/>
              </a:rPr>
              <a:t>PrecisionAutoAI | Used car price prediction ML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800" b="0">
                <a:solidFill>
                  <a:srgbClr val="64728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3B1F24-8DED-4E9E-A41C-329007D1A8A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391e3ae-d131-4c2e-86cd-2879066b155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1242</Words>
  <Application>Microsoft Office PowerPoint</Application>
  <PresentationFormat>Geniş ekran</PresentationFormat>
  <Paragraphs>244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Muhammed Yuşa DUYMAZ</cp:lastModifiedBy>
  <cp:revision>26</cp:revision>
  <dcterms:created xsi:type="dcterms:W3CDTF">2013-01-27T09:14:16Z</dcterms:created>
  <dcterms:modified xsi:type="dcterms:W3CDTF">2026-06-03T16:58:47Z</dcterms:modified>
  <cp:category/>
</cp:coreProperties>
</file>