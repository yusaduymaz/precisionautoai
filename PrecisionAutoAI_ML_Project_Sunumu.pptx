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MACHINE LEARNING PROJESI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498079" cy="12344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5000" b="1">
                <a:solidFill>
                  <a:srgbClr val="EBF3FA"/>
                </a:solidFill>
                <a:latin typeface="Aptos Display"/>
              </a:rPr>
              <a:t>PrecisionAutoAI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" y="2148840"/>
            <a:ext cx="7498079" cy="5909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 dirty="0" err="1">
                <a:solidFill>
                  <a:srgbClr val="91A0B4"/>
                </a:solidFill>
                <a:latin typeface="Aptos"/>
              </a:rPr>
              <a:t>Colab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</a:t>
            </a:r>
            <a:r>
              <a:rPr lang="tr-TR" dirty="0">
                <a:solidFill>
                  <a:srgbClr val="91A0B4"/>
                </a:solidFill>
                <a:latin typeface="Aptos"/>
              </a:rPr>
              <a:t>ü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zerinde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e</a:t>
            </a:r>
            <a:r>
              <a:rPr lang="tr-TR" dirty="0">
                <a:solidFill>
                  <a:srgbClr val="91A0B4"/>
                </a:solidFill>
                <a:latin typeface="Aptos"/>
              </a:rPr>
              <a:t>ğ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itilen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, Flask </a:t>
            </a:r>
            <a:r>
              <a:rPr lang="tr-TR" sz="1800" b="0" dirty="0">
                <a:solidFill>
                  <a:srgbClr val="91A0B4"/>
                </a:solidFill>
                <a:latin typeface="Aptos"/>
              </a:rPr>
              <a:t>arayüzüne 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ta</a:t>
            </a:r>
            <a:r>
              <a:rPr lang="tr-TR" sz="1800" b="0" dirty="0" err="1">
                <a:solidFill>
                  <a:srgbClr val="91A0B4"/>
                </a:solidFill>
                <a:latin typeface="Aptos"/>
              </a:rPr>
              <a:t>ş</a:t>
            </a:r>
            <a:r>
              <a:rPr lang="tr-TR" dirty="0" err="1">
                <a:solidFill>
                  <a:srgbClr val="91A0B4"/>
                </a:solidFill>
                <a:latin typeface="Aptos"/>
              </a:rPr>
              <a:t>ı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nan 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ve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TRY 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cinsinden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ikinci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el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arac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fiyat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tahmini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yapan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 ML </a:t>
            </a:r>
            <a:r>
              <a:rPr sz="1800" b="0" dirty="0" err="1">
                <a:solidFill>
                  <a:srgbClr val="91A0B4"/>
                </a:solidFill>
                <a:latin typeface="Aptos"/>
              </a:rPr>
              <a:t>projesi</a:t>
            </a:r>
            <a:r>
              <a:rPr sz="1800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315968"/>
            <a:ext cx="22402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4453128"/>
            <a:ext cx="19659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VERI SETI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700016"/>
            <a:ext cx="1965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108,540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020056"/>
            <a:ext cx="19659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ham ilan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4315968"/>
            <a:ext cx="22402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55264" y="4453128"/>
            <a:ext cx="19659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FINAL VERI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4700016"/>
            <a:ext cx="1965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99,322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5020056"/>
            <a:ext cx="19659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temizlik sonrasi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2976" y="4315968"/>
            <a:ext cx="22402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87568" y="4453128"/>
            <a:ext cx="19659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4700016"/>
            <a:ext cx="1965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0.968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5020056"/>
            <a:ext cx="19659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XGBoost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4315968"/>
            <a:ext cx="22402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1" y="4453128"/>
            <a:ext cx="19659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4700016"/>
            <a:ext cx="1965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265K 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5020056"/>
            <a:ext cx="19659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average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603504"/>
            <a:ext cx="2880360" cy="292608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68512" y="932688"/>
            <a:ext cx="219456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91A0B4"/>
                </a:solidFill>
                <a:latin typeface="Aptos"/>
              </a:rPr>
              <a:t>Proje ciktisi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1316736"/>
            <a:ext cx="2304288" cy="20836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 dirty="0">
                <a:solidFill>
                  <a:srgbClr val="EBF3FA"/>
                </a:solidFill>
                <a:latin typeface="Aptos"/>
              </a:rPr>
              <a:t>E</a:t>
            </a:r>
            <a:r>
              <a:rPr lang="tr-TR" sz="1900" b="1" dirty="0">
                <a:solidFill>
                  <a:srgbClr val="EBF3FA"/>
                </a:solidFill>
                <a:latin typeface="Aptos"/>
              </a:rPr>
              <a:t>ğ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itilmi</a:t>
            </a:r>
            <a:r>
              <a:rPr lang="tr-TR" sz="1900" b="1" dirty="0">
                <a:solidFill>
                  <a:srgbClr val="EBF3FA"/>
                </a:solidFill>
                <a:latin typeface="Aptos"/>
              </a:rPr>
              <a:t>ş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regresyon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pipeline'i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ve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kullanicinin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arac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bilgisi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girerek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TRY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fiyat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tahmini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alabildigi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 web </a:t>
            </a:r>
            <a:r>
              <a:rPr sz="1900" b="1" dirty="0" err="1">
                <a:solidFill>
                  <a:srgbClr val="EBF3FA"/>
                </a:solidFill>
                <a:latin typeface="Aptos"/>
              </a:rPr>
              <a:t>arayuzu</a:t>
            </a:r>
            <a:r>
              <a:rPr sz="1900" b="1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AMAC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Proje, ham UK ikinci el arac ilanlarini Turkiye odakli TRY fiyat tahminleyicisine donusturuyor.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Hedef: marka, model, yil, km, yakit tipi, sanziman ve motor hacmiyle beklenen ikinci el arac fiyatini tahmin etmek.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3154680" cy="26060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32304"/>
            <a:ext cx="256032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Problem neden onemli?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1752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944368"/>
            <a:ext cx="2700874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Ikinci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el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fiyatlari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degisken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ve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cok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faktor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bagimlidir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909828" y="350422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432394"/>
            <a:ext cx="2560320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>
                <a:solidFill>
                  <a:srgbClr val="EBF3FA"/>
                </a:solidFill>
                <a:latin typeface="Aptos"/>
              </a:rPr>
              <a:t>Yas,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kilometre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ve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motor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hacmi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degeri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ciddi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etkiler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5892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881204"/>
            <a:ext cx="2423160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Turkiye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icin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kur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ve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vergi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lokalizasyonu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gerekir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148840"/>
            <a:ext cx="3154680" cy="26060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2432304"/>
            <a:ext cx="256032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ML gorev tanimi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301752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8" y="2944368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Denetimli regresyon problemi.</a:t>
            </a:r>
          </a:p>
        </p:txBody>
      </p:sp>
      <p:sp>
        <p:nvSpPr>
          <p:cNvPr id="19" name="Oval 18"/>
          <p:cNvSpPr/>
          <p:nvPr/>
        </p:nvSpPr>
        <p:spPr>
          <a:xfrm>
            <a:off x="4480560" y="3401568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8" y="3328416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Hedef degisken: lokalize price_tl.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785616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3712464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Degerlendirme: MAE, RMSE ve R2.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148840"/>
            <a:ext cx="3154680" cy="26060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2432304"/>
            <a:ext cx="256032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Nihai urun</a:t>
            </a:r>
          </a:p>
        </p:txBody>
      </p:sp>
      <p:sp>
        <p:nvSpPr>
          <p:cNvPr id="25" name="Oval 24"/>
          <p:cNvSpPr/>
          <p:nvPr/>
        </p:nvSpPr>
        <p:spPr>
          <a:xfrm>
            <a:off x="8046720" y="301752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2944368"/>
            <a:ext cx="2276856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Tekrar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kullanilabilir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preprocessing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artifact'leri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0" y="3515868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3432394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joblib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ile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kaydedilmis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XGBoost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modeli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29" name="Oval 28"/>
          <p:cNvSpPr/>
          <p:nvPr/>
        </p:nvSpPr>
        <p:spPr>
          <a:xfrm>
            <a:off x="8046720" y="397306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2168" y="3891573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Kullanici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dostu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tahmin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icin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Flask UI.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VERI SETI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Kaggle 100k UK used-car veri seti modele genis marka kapsami sagladi.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Kaynak: adityadesai13/used-car-dataset-ford-and-mercedes; uretici bazinda CSV dosyalarina ayrilmis ikinci el ilan verileri.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48256"/>
            <a:ext cx="5623560" cy="35204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34747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EBF3FA"/>
                </a:solidFill>
                <a:latin typeface="Aptos"/>
              </a:rPr>
              <a:t>Birlesim sonrasi markaya gore ham kayit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Ford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77063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0" y="2770632"/>
            <a:ext cx="2743199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272491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23,419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2768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Mercedes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05511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8880" y="3055112"/>
            <a:ext cx="1993414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300939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17,018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1216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Volkswagen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33959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68880" y="3339592"/>
            <a:ext cx="1775425" cy="146304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329387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15,157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9664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Opel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62407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68880" y="3624072"/>
            <a:ext cx="1596793" cy="146304"/>
          </a:xfrm>
          <a:prstGeom prst="rect">
            <a:avLst/>
          </a:prstGeom>
          <a:solidFill>
            <a:srgbClr val="51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357835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13,632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8112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BMW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390855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468880" y="3908552"/>
            <a:ext cx="1262839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0" y="386283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10,781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560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Audi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419303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468880" y="4193032"/>
            <a:ext cx="1249603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0" y="414731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10,668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45008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Toyota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447751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468880" y="4477512"/>
            <a:ext cx="789260" cy="146304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0" y="443179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6,738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73456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Skoda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76199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468880" y="4761992"/>
            <a:ext cx="734089" cy="146304"/>
          </a:xfrm>
          <a:prstGeom prst="rect">
            <a:avLst/>
          </a:prstGeom>
          <a:solidFill>
            <a:srgbClr val="51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0" y="471627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6,267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01904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Hyundai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504647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468880" y="5046472"/>
            <a:ext cx="569279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0" y="500075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4,860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2048256"/>
            <a:ext cx="4434840" cy="35204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903720" y="2359152"/>
            <a:ext cx="17830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68312" y="2496312"/>
            <a:ext cx="1508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CSV DOSYASI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2743200"/>
            <a:ext cx="15087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292F0"/>
                </a:solidFill>
                <a:latin typeface="Aptos Display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68312" y="3063240"/>
            <a:ext cx="15087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uretici dosyasi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2359152"/>
            <a:ext cx="17830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5712" y="2496312"/>
            <a:ext cx="1508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KOLON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5712" y="2743200"/>
            <a:ext cx="15087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F5B246"/>
                </a:solidFill>
                <a:latin typeface="Aptos Display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2" y="3063240"/>
            <a:ext cx="15087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tax/mpg sonrasi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3703320"/>
            <a:ext cx="361188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Kullanilan ana ozellikler</a:t>
            </a:r>
          </a:p>
        </p:txBody>
      </p:sp>
      <p:sp>
        <p:nvSpPr>
          <p:cNvPr id="55" name="Oval 54"/>
          <p:cNvSpPr/>
          <p:nvPr/>
        </p:nvSpPr>
        <p:spPr>
          <a:xfrm>
            <a:off x="6931152" y="420624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86600" y="4133087"/>
            <a:ext cx="32918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model, year, transmission</a:t>
            </a:r>
          </a:p>
        </p:txBody>
      </p:sp>
      <p:sp>
        <p:nvSpPr>
          <p:cNvPr id="57" name="Oval 56"/>
          <p:cNvSpPr/>
          <p:nvPr/>
        </p:nvSpPr>
        <p:spPr>
          <a:xfrm>
            <a:off x="6931152" y="451713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86600" y="4443983"/>
            <a:ext cx="32918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mileage, fuelType, engineSize</a:t>
            </a:r>
          </a:p>
        </p:txBody>
      </p:sp>
      <p:sp>
        <p:nvSpPr>
          <p:cNvPr id="59" name="Oval 58"/>
          <p:cNvSpPr/>
          <p:nvPr/>
        </p:nvSpPr>
        <p:spPr>
          <a:xfrm>
            <a:off x="6931152" y="4828031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86600" y="4754879"/>
            <a:ext cx="32918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brand added during merge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5989320"/>
            <a:ext cx="9966960" cy="23774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77879C"/>
                </a:solidFill>
                <a:latin typeface="Aptos"/>
              </a:rPr>
              <a:t>Kaggle kaynak: https://www.kaggle.com/datasets/adityadesai13/used-car-dataset-ford-and-mercedes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VERI HAZIRLAMA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Model egitiminden once veri gurultusu sistematik olarak azaltildi.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Pipeline imkansiz motor degerlerini temizledi, yil araligini sinirladi, nadir modelleri grupladi ve IQR ile aykiri degerleri filtreledi.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43DAC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Birlestirme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56432"/>
            <a:ext cx="1389888" cy="4843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11 CSV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okundu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ve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her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satira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marka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etiketi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eklendi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5B246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456432"/>
            <a:ext cx="1719072" cy="3352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Hyundai tax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kolonu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duzeltildi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; tax/mpg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kolonlari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cikarildi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43DAC6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Temizlik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456432"/>
            <a:ext cx="1883664" cy="3352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286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engineSize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=0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satiri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ve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gecersiz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yil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degerleri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elendi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4263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5B246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Gruplama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3456432"/>
            <a:ext cx="1453896" cy="4843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193 model, &lt;=100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kayitli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nadir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modeller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Other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yapilinca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113'e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indi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9147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43DAC6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Filtreleme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4322" y="3429000"/>
            <a:ext cx="1568196" cy="3352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IQR 8,907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satir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temizledi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; 99,322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satir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69" b="0" dirty="0" err="1">
                <a:solidFill>
                  <a:srgbClr val="91A0B4"/>
                </a:solidFill>
                <a:latin typeface="Aptos"/>
              </a:rPr>
              <a:t>kaldi</a:t>
            </a:r>
            <a:r>
              <a:rPr sz="969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EDA, yas, sanziman ve motor hacminin fiyat sinyali tasidigini gosterdi.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Model seciminden once dagilimlar, korelasyon ve dogrusal olmayan iliskiler notebook grafikleriyle incelendi.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38528"/>
            <a:ext cx="5074920" cy="3438144"/>
          </a:xfrm>
          <a:prstGeom prst="rect">
            <a:avLst/>
          </a:prstGeom>
          <a:solidFill>
            <a:srgbClr val="F6F8FC"/>
          </a:solidFill>
          <a:ln w="762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2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21408"/>
            <a:ext cx="4681728" cy="29057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0" y="1938528"/>
            <a:ext cx="5074920" cy="3438144"/>
          </a:xfrm>
          <a:prstGeom prst="rect">
            <a:avLst/>
          </a:prstGeom>
          <a:solidFill>
            <a:srgbClr val="F6F8FC"/>
          </a:solidFill>
          <a:ln w="762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ell_2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148840"/>
            <a:ext cx="3689101" cy="2926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77840"/>
            <a:ext cx="457200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91A0B4"/>
                </a:solidFill>
                <a:latin typeface="Aptos"/>
              </a:rPr>
              <a:t>Yeni araclar genellikle daha yuksek fiyatli; heatmap yil ve engineSize degiskenlerini onemli sayisal suruculer olarak destekliyor.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788152"/>
            <a:ext cx="457200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50" b="0" dirty="0" err="1">
                <a:solidFill>
                  <a:srgbClr val="91A0B4"/>
                </a:solidFill>
                <a:latin typeface="Aptos"/>
              </a:rPr>
              <a:t>Korelasyon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tek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basina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yeterli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olmadigi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icin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dogrusal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olmayan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ensemble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modeller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de test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edildi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LOKALIZASYON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Hedef degisken UK liste fiyatindan Turkiye odakli TRY fiyatina uyarlandi.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Boylece proje ham GBP tahmini yerine arayuzde beklenen kullanici deneyimine yaklasti.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2834640" cy="256032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24028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Kur donusumu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2057400" cy="7315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900" b="1">
                <a:solidFill>
                  <a:srgbClr val="43DAC6"/>
                </a:solidFill>
                <a:latin typeface="Aptos Display"/>
              </a:rPr>
              <a:t>GBP price x 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58768"/>
            <a:ext cx="2368296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91A0B4"/>
                </a:solidFill>
                <a:latin typeface="Aptos"/>
              </a:rPr>
              <a:t>Projede notebook icindeki sabit kur kullanildi.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148840"/>
            <a:ext cx="2834640" cy="256032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224028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Mesafe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71800"/>
            <a:ext cx="2057400" cy="7315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500" b="1">
                <a:solidFill>
                  <a:srgbClr val="5292F0"/>
                </a:solidFill>
                <a:latin typeface="Aptos Display"/>
              </a:rPr>
              <a:t>miles x 1.609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858768"/>
            <a:ext cx="2414016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dirty="0" err="1">
                <a:solidFill>
                  <a:srgbClr val="91A0B4"/>
                </a:solidFill>
                <a:latin typeface="Aptos"/>
              </a:rPr>
              <a:t>Donusumden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sonra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mileage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kolonu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km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olarak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91A0B4"/>
                </a:solidFill>
                <a:latin typeface="Aptos"/>
              </a:rPr>
              <a:t>adlandirildi</a:t>
            </a:r>
            <a:r>
              <a:rPr sz="1050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148840"/>
            <a:ext cx="2834640" cy="256032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2468880"/>
            <a:ext cx="224028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Vergi carpani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072384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82127" y="2999232"/>
            <a:ext cx="20116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EBF3FA"/>
                </a:solidFill>
                <a:latin typeface="Aptos"/>
              </a:rPr>
              <a:t>&lt;=1.6L: x3.0</a:t>
            </a:r>
          </a:p>
        </p:txBody>
      </p:sp>
      <p:sp>
        <p:nvSpPr>
          <p:cNvPr id="19" name="Oval 18"/>
          <p:cNvSpPr/>
          <p:nvPr/>
        </p:nvSpPr>
        <p:spPr>
          <a:xfrm>
            <a:off x="7726679" y="346557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7" y="3392424"/>
            <a:ext cx="20116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EBF3FA"/>
                </a:solidFill>
                <a:latin typeface="Aptos"/>
              </a:rPr>
              <a:t>&lt;=2.0L: x4.5</a:t>
            </a:r>
          </a:p>
        </p:txBody>
      </p:sp>
      <p:sp>
        <p:nvSpPr>
          <p:cNvPr id="21" name="Oval 20"/>
          <p:cNvSpPr/>
          <p:nvPr/>
        </p:nvSpPr>
        <p:spPr>
          <a:xfrm>
            <a:off x="7726679" y="385876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7" y="3785615"/>
            <a:ext cx="20116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EBF3FA"/>
                </a:solidFill>
                <a:latin typeface="Aptos"/>
              </a:rPr>
              <a:t>&gt;2.0L: x6.0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9601200" cy="34747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EBF3FA"/>
                </a:solidFill>
                <a:latin typeface="Aptos"/>
              </a:rPr>
              <a:t>Sonuc: final hedef degisken price_tl oldu; bu deger yayina alinan UI ciktisiyla uyumlu lokalize fiyat tahminidir.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Preprocessing pipeline'i egitim ve deployment davranisini tutarli tuttu.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Ayni encoder'lar, scaler ve feature sirasi artifact olarak kaydedilip Flask tarafinda tekrar kullanildi.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Ham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54680"/>
            <a:ext cx="1545336" cy="461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brand, model, year, km, transmission,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fuelType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,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engineSize</a:t>
            </a:r>
            <a:endParaRPr sz="919" b="0" dirty="0">
              <a:solidFill>
                <a:srgbClr val="91A0B4"/>
              </a:solidFill>
              <a:latin typeface="Aptos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340864" y="3154680"/>
            <a:ext cx="384048" cy="237744"/>
          </a:xfrm>
          <a:prstGeom prst="rightArrow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0720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351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Encoding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3154680"/>
            <a:ext cx="1417320" cy="60272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brand/model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icin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LabelEncoder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; transmission/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fuelType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icin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BinaryEncoder</a:t>
            </a:r>
            <a:endParaRPr sz="919" b="0" dirty="0">
              <a:solidFill>
                <a:srgbClr val="91A0B4"/>
              </a:solidFill>
              <a:latin typeface="Aptos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581144" y="3154680"/>
            <a:ext cx="384048" cy="237744"/>
          </a:xfrm>
          <a:prstGeom prst="rightArrow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4748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3154680"/>
            <a:ext cx="1417320" cy="3198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km,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engineSize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ve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year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icin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StandardScaler</a:t>
            </a:r>
            <a:endParaRPr sz="919" b="0" dirty="0">
              <a:solidFill>
                <a:srgbClr val="91A0B4"/>
              </a:solidFill>
              <a:latin typeface="Aptos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6821424" y="3154680"/>
            <a:ext cx="384048" cy="237744"/>
          </a:xfrm>
          <a:prstGeom prst="rightArrow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8776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3407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3154680"/>
            <a:ext cx="1417320" cy="3198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80/20 train-test split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ile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XGBRegressor</a:t>
            </a:r>
            <a:endParaRPr sz="919" b="0" dirty="0">
              <a:solidFill>
                <a:srgbClr val="91A0B4"/>
              </a:solidFill>
              <a:latin typeface="Aptos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9061704" y="3154680"/>
            <a:ext cx="384048" cy="237744"/>
          </a:xfrm>
          <a:prstGeom prst="rightArrow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2804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7435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Artifact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3154680"/>
            <a:ext cx="1472184" cy="461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model + preprocessing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nesnelerini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iceren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joblib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paketi</a:t>
            </a:r>
            <a:endParaRPr sz="919" b="0" dirty="0">
              <a:solidFill>
                <a:srgbClr val="91A0B4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5074920"/>
            <a:ext cx="20116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5212080"/>
            <a:ext cx="17373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BOLME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458968"/>
            <a:ext cx="17373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292F0"/>
                </a:solidFill>
                <a:latin typeface="Aptos Display"/>
              </a:rPr>
              <a:t>80/20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779008"/>
            <a:ext cx="17373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random_state=42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5074920"/>
            <a:ext cx="20116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10712" y="5212080"/>
            <a:ext cx="17373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SCALED COLS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5458968"/>
            <a:ext cx="17373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5779008"/>
            <a:ext cx="17373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km, engineSize, year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5074920"/>
            <a:ext cx="20116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42431" y="5212080"/>
            <a:ext cx="17373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CATEGORICAL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42431" y="5458968"/>
            <a:ext cx="17373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F5B246"/>
                </a:solidFill>
                <a:latin typeface="Aptos Display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1" y="5779008"/>
            <a:ext cx="17373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encoded inputs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5074920"/>
            <a:ext cx="20116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74152" y="5212080"/>
            <a:ext cx="17373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DEPLOY DOSYASI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2" y="5458968"/>
            <a:ext cx="17373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1C987"/>
                </a:solidFill>
                <a:latin typeface="Aptos Display"/>
              </a:rPr>
              <a:t>pkl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5779008"/>
            <a:ext cx="17373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model artifacts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MODEL KARSILASTIRMASI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Ensemble modeller lineer baselinelari acik sekilde geride birakti.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Degerlendirmede dokuz regresyon modeli ayni train/test split ve ayni preprocessing ile karsilastirildi.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5669280" cy="35204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3749039" cy="23774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EBF3FA"/>
                </a:solidFill>
                <a:latin typeface="Aptos"/>
              </a:rPr>
              <a:t>Tuning oncesi modele gore Test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Linear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7523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14600" y="2752344"/>
            <a:ext cx="2304288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27066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043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Lasso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30317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14600" y="3031744"/>
            <a:ext cx="2304288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29860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837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Ridge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3111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14600" y="3311144"/>
            <a:ext cx="2304288" cy="146304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0" y="32654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631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KNN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5905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14600" y="3590544"/>
            <a:ext cx="2773786" cy="146304"/>
          </a:xfrm>
          <a:prstGeom prst="rect">
            <a:avLst/>
          </a:prstGeom>
          <a:solidFill>
            <a:srgbClr val="51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35448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8425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Decision Tree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38699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14600" y="3869944"/>
            <a:ext cx="2733461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0" y="38242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219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Random 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1493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14600" y="4149344"/>
            <a:ext cx="2782427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0" y="41036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4013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AdaBoost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44287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14600" y="4428744"/>
            <a:ext cx="2405100" cy="146304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0" y="43830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0.835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807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Gradient 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47081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14600" y="4708144"/>
            <a:ext cx="2696016" cy="146304"/>
          </a:xfrm>
          <a:prstGeom prst="rect">
            <a:avLst/>
          </a:prstGeom>
          <a:solidFill>
            <a:srgbClr val="51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0" y="46624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49601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XGBoost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49875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14600" y="4987544"/>
            <a:ext cx="2782427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0" y="49418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0.966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2057400"/>
            <a:ext cx="3749039" cy="35204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86600" y="2359152"/>
            <a:ext cx="2971800" cy="3200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Ana yorum</a:t>
            </a:r>
          </a:p>
        </p:txBody>
      </p:sp>
      <p:sp>
        <p:nvSpPr>
          <p:cNvPr id="47" name="Oval 46"/>
          <p:cNvSpPr/>
          <p:nvPr/>
        </p:nvSpPr>
        <p:spPr>
          <a:xfrm>
            <a:off x="7095744" y="292608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51192" y="2852928"/>
            <a:ext cx="26974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20" b="0">
                <a:solidFill>
                  <a:srgbClr val="EBF3FA"/>
                </a:solidFill>
                <a:latin typeface="Aptos"/>
              </a:rPr>
              <a:t>Lineer modeller yaklasik 0.80 R2 seviyesinde kaldi.</a:t>
            </a:r>
          </a:p>
        </p:txBody>
      </p:sp>
      <p:sp>
        <p:nvSpPr>
          <p:cNvPr id="49" name="Oval 48"/>
          <p:cNvSpPr/>
          <p:nvPr/>
        </p:nvSpPr>
        <p:spPr>
          <a:xfrm>
            <a:off x="7095744" y="3273552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51192" y="3200400"/>
            <a:ext cx="3310127" cy="3816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dirty="0">
                <a:solidFill>
                  <a:srgbClr val="EBF3FA"/>
                </a:solidFill>
                <a:latin typeface="Aptos"/>
              </a:rPr>
              <a:t>KNN, Random Forest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ve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XGBoost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dogrusal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olmayan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desenleri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yakaladi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51" name="Oval 50"/>
          <p:cNvSpPr/>
          <p:nvPr/>
        </p:nvSpPr>
        <p:spPr>
          <a:xfrm>
            <a:off x="7086600" y="374777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51192" y="3687064"/>
            <a:ext cx="3172968" cy="3816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dirty="0">
                <a:solidFill>
                  <a:srgbClr val="EBF3FA"/>
                </a:solidFill>
                <a:latin typeface="Aptos"/>
              </a:rPr>
              <a:t>Decision Tree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belirgin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 overfit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etti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: train R2 0.999, test R2 0.949.</a:t>
            </a:r>
          </a:p>
        </p:txBody>
      </p:sp>
      <p:sp>
        <p:nvSpPr>
          <p:cNvPr id="53" name="Oval 52"/>
          <p:cNvSpPr/>
          <p:nvPr/>
        </p:nvSpPr>
        <p:spPr>
          <a:xfrm>
            <a:off x="7086600" y="4236212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51192" y="4163568"/>
            <a:ext cx="26974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20" b="0" dirty="0">
                <a:solidFill>
                  <a:srgbClr val="EBF3FA"/>
                </a:solidFill>
                <a:latin typeface="Aptos"/>
              </a:rPr>
              <a:t>Hyperparameter tuning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icin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XGBoost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BF3FA"/>
                </a:solidFill>
                <a:latin typeface="Aptos"/>
              </a:rPr>
              <a:t>secildi</a:t>
            </a:r>
            <a:r>
              <a:rPr sz="1120" b="0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FINAL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Tuned XGBoost en guclu final test sonucunu verdi.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RandomizedSearchCV agac derinligi, learning rate ve kolon ornekleme stratejisini secti.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219456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331720"/>
            <a:ext cx="192024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78608"/>
            <a:ext cx="192024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0.968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98648"/>
            <a:ext cx="192024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aciklanan varyans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194560"/>
            <a:ext cx="219456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2331720"/>
            <a:ext cx="192024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578608"/>
            <a:ext cx="192024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F5B246"/>
                </a:solidFill>
                <a:latin typeface="Aptos Display"/>
              </a:rPr>
              <a:t>265,370 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898648"/>
            <a:ext cx="192024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ortalama mutlak hata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2194560"/>
            <a:ext cx="219456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9592" y="2331720"/>
            <a:ext cx="192024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RMSE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578608"/>
            <a:ext cx="192024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292F0"/>
                </a:solidFill>
                <a:latin typeface="Aptos Display"/>
              </a:rPr>
              <a:t>417,255 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898648"/>
            <a:ext cx="192024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buyuk hatalari cezalandirir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194560"/>
            <a:ext cx="219456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2331720"/>
            <a:ext cx="192024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TRAIN R2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578608"/>
            <a:ext cx="192024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1C987"/>
                </a:solidFill>
                <a:latin typeface="Aptos Display"/>
              </a:rPr>
              <a:t>0.986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898648"/>
            <a:ext cx="192024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fit kalitesi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3794760"/>
            <a:ext cx="4343400" cy="150876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98448" y="4069080"/>
            <a:ext cx="356616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En iyi tuning parametreleri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480560"/>
            <a:ext cx="3950208" cy="5678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91A0B4"/>
                </a:solidFill>
                <a:latin typeface="Aptos"/>
              </a:rPr>
              <a:t>Secilenler: max_depth=12, learning_rate=0.1, colsample_bytree=0.7, n_estimators=100; final egitimde 200 estimator kullanildi.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3794760"/>
            <a:ext cx="4343400" cy="150876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53328" y="4069080"/>
            <a:ext cx="356616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Hata ne anlama geliyor?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4480560"/>
            <a:ext cx="3913632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91A0B4"/>
                </a:solidFill>
                <a:latin typeface="Aptos"/>
              </a:rPr>
              <a:t>Lokalizasyon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sonrasi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ortalama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mutlak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sapma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yaklasik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265K TRY;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pahali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ve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nadir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konfigurasyonlar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daha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zor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91A0B4"/>
                </a:solidFill>
                <a:latin typeface="Aptos"/>
              </a:rPr>
              <a:t>kalir</a:t>
            </a:r>
            <a:r>
              <a:rPr sz="1150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YORUMLANABILIRLIK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Final modelin en guclu sinyalleri gercek ikinci el fiyatlama mantigiyla uyusuyor.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Feature importance grafigi lokalize Turkiye hedefinde yil ve motor hacmini onde gelen sinyaller olarak gosteriyor.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93392"/>
            <a:ext cx="5623560" cy="3584448"/>
          </a:xfrm>
          <a:prstGeom prst="rect">
            <a:avLst/>
          </a:prstGeom>
          <a:solidFill>
            <a:srgbClr val="F6F8FC"/>
          </a:solidFill>
          <a:ln w="762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5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67712"/>
            <a:ext cx="5029200" cy="30263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20840" y="1993392"/>
            <a:ext cx="3977639" cy="3584448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2331720"/>
            <a:ext cx="315468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BF3FA"/>
                </a:solidFill>
                <a:latin typeface="Aptos"/>
              </a:rPr>
              <a:t>Teknik yorum</a:t>
            </a:r>
          </a:p>
        </p:txBody>
      </p:sp>
      <p:sp>
        <p:nvSpPr>
          <p:cNvPr id="11" name="Oval 10"/>
          <p:cNvSpPr/>
          <p:nvPr/>
        </p:nvSpPr>
        <p:spPr>
          <a:xfrm>
            <a:off x="6967728" y="295351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23176" y="2880360"/>
            <a:ext cx="297180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Year amortisman ve piyasa guncelligini temsil eder.</a:t>
            </a:r>
          </a:p>
        </p:txBody>
      </p:sp>
      <p:sp>
        <p:nvSpPr>
          <p:cNvPr id="13" name="Oval 12"/>
          <p:cNvSpPr/>
          <p:nvPr/>
        </p:nvSpPr>
        <p:spPr>
          <a:xfrm>
            <a:off x="6967728" y="3300984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23176" y="3227832"/>
            <a:ext cx="297180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EngineSize hem baz degeri hem vergi carpanini etkiler.</a:t>
            </a:r>
          </a:p>
        </p:txBody>
      </p:sp>
      <p:sp>
        <p:nvSpPr>
          <p:cNvPr id="15" name="Oval 14"/>
          <p:cNvSpPr/>
          <p:nvPr/>
        </p:nvSpPr>
        <p:spPr>
          <a:xfrm>
            <a:off x="6967728" y="3648456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23176" y="3575304"/>
            <a:ext cx="3493008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Kodlanan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model/brand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alanlari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segment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bazli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fiyat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sinyali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ekler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6967728" y="4078224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23176" y="4014216"/>
            <a:ext cx="297180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 dirty="0">
                <a:solidFill>
                  <a:srgbClr val="EBF3FA"/>
                </a:solidFill>
                <a:latin typeface="Aptos"/>
              </a:rPr>
              <a:t>Km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onemlidir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;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fakat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yil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ve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modelle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etkilesimli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BF3FA"/>
                </a:solidFill>
                <a:latin typeface="Aptos"/>
              </a:rPr>
              <a:t>calisir</a:t>
            </a:r>
            <a:r>
              <a:rPr sz="1150" b="0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UI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3" y="365761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 dirty="0">
                <a:solidFill>
                  <a:srgbClr val="EBF3FA"/>
                </a:solidFill>
                <a:latin typeface="Aptos Display"/>
              </a:rPr>
              <a:t>Model </a:t>
            </a:r>
            <a:r>
              <a:rPr sz="3000" b="1" dirty="0" err="1">
                <a:solidFill>
                  <a:srgbClr val="EBF3FA"/>
                </a:solidFill>
                <a:latin typeface="Aptos Display"/>
              </a:rPr>
              <a:t>kullanilabilir</a:t>
            </a:r>
            <a:r>
              <a:rPr sz="3000" b="1" dirty="0">
                <a:solidFill>
                  <a:srgbClr val="EBF3FA"/>
                </a:solidFill>
                <a:latin typeface="Aptos Display"/>
              </a:rPr>
              <a:t> </a:t>
            </a:r>
            <a:r>
              <a:rPr sz="3000" b="1" dirty="0" err="1">
                <a:solidFill>
                  <a:srgbClr val="EBF3FA"/>
                </a:solidFill>
                <a:latin typeface="Aptos Display"/>
              </a:rPr>
              <a:t>bir</a:t>
            </a:r>
            <a:r>
              <a:rPr sz="3000" b="1" dirty="0">
                <a:solidFill>
                  <a:srgbClr val="EBF3FA"/>
                </a:solidFill>
                <a:latin typeface="Aptos Display"/>
              </a:rPr>
              <a:t> </a:t>
            </a:r>
            <a:r>
              <a:rPr sz="3000" b="1" dirty="0" err="1">
                <a:solidFill>
                  <a:srgbClr val="EBF3FA"/>
                </a:solidFill>
                <a:latin typeface="Aptos Display"/>
              </a:rPr>
              <a:t>tahmin</a:t>
            </a:r>
            <a:r>
              <a:rPr sz="3000" b="1" dirty="0">
                <a:solidFill>
                  <a:srgbClr val="EBF3FA"/>
                </a:solidFill>
                <a:latin typeface="Aptos Display"/>
              </a:rPr>
              <a:t> </a:t>
            </a:r>
            <a:r>
              <a:rPr sz="3000" b="1" dirty="0" err="1">
                <a:solidFill>
                  <a:srgbClr val="EBF3FA"/>
                </a:solidFill>
                <a:latin typeface="Aptos Display"/>
              </a:rPr>
              <a:t>arayuzune</a:t>
            </a:r>
            <a:r>
              <a:rPr sz="3000" b="1" dirty="0">
                <a:solidFill>
                  <a:srgbClr val="EBF3FA"/>
                </a:solidFill>
                <a:latin typeface="Aptos Display"/>
              </a:rPr>
              <a:t> </a:t>
            </a:r>
            <a:r>
              <a:rPr sz="3000" b="1" dirty="0" err="1">
                <a:solidFill>
                  <a:srgbClr val="EBF3FA"/>
                </a:solidFill>
                <a:latin typeface="Aptos Display"/>
              </a:rPr>
              <a:t>donusturuldu</a:t>
            </a:r>
            <a:r>
              <a:rPr sz="3000" b="1" dirty="0">
                <a:solidFill>
                  <a:srgbClr val="EBF3FA"/>
                </a:solidFill>
                <a:latin typeface="Aptos Display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41249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91A0B4"/>
                </a:solidFill>
                <a:latin typeface="Aptos"/>
              </a:rPr>
              <a:t>Flask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kaydedilen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 artifact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paketini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yukler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kullanici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girdisini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dogrular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ayni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preprocessing'i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uygular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ve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 TRY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tahmini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91A0B4"/>
                </a:solidFill>
                <a:latin typeface="Aptos"/>
              </a:rPr>
              <a:t>dondurur</a:t>
            </a:r>
            <a:r>
              <a:rPr sz="1200" b="0" dirty="0">
                <a:solidFill>
                  <a:srgbClr val="91A0B4"/>
                </a:solidFill>
                <a:latin typeface="Aptos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6400800" cy="4005072"/>
          </a:xfrm>
          <a:prstGeom prst="rect">
            <a:avLst/>
          </a:prstGeom>
          <a:solidFill>
            <a:srgbClr val="F6F8FC"/>
          </a:solidFill>
          <a:ln w="762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ecisionautoai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53" y="1155548"/>
            <a:ext cx="6847438" cy="570245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06640" y="1874519"/>
            <a:ext cx="3429000" cy="4005072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2" y="2212848"/>
            <a:ext cx="278892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Uygulama detaylari</a:t>
            </a:r>
          </a:p>
        </p:txBody>
      </p:sp>
      <p:sp>
        <p:nvSpPr>
          <p:cNvPr id="11" name="Oval 10"/>
          <p:cNvSpPr/>
          <p:nvPr/>
        </p:nvSpPr>
        <p:spPr>
          <a:xfrm>
            <a:off x="7662672" y="277063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26060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10" b="0">
                <a:solidFill>
                  <a:srgbClr val="EBF3FA"/>
                </a:solidFill>
                <a:latin typeface="Aptos"/>
              </a:rPr>
              <a:t>Once marka secilir, model listesi UI'da filtrelenir.</a:t>
            </a:r>
          </a:p>
        </p:txBody>
      </p:sp>
      <p:sp>
        <p:nvSpPr>
          <p:cNvPr id="13" name="Oval 12"/>
          <p:cNvSpPr/>
          <p:nvPr/>
        </p:nvSpPr>
        <p:spPr>
          <a:xfrm>
            <a:off x="7662672" y="3127248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3054096"/>
            <a:ext cx="26060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10" b="0">
                <a:solidFill>
                  <a:srgbClr val="EBF3FA"/>
                </a:solidFill>
                <a:latin typeface="Aptos"/>
              </a:rPr>
              <a:t>Desteklenmeyen model degerleri Other'a duser.</a:t>
            </a:r>
          </a:p>
        </p:txBody>
      </p:sp>
      <p:sp>
        <p:nvSpPr>
          <p:cNvPr id="15" name="Oval 14"/>
          <p:cNvSpPr/>
          <p:nvPr/>
        </p:nvSpPr>
        <p:spPr>
          <a:xfrm>
            <a:off x="7662672" y="3483864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3410712"/>
            <a:ext cx="26060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10" b="0">
                <a:solidFill>
                  <a:srgbClr val="EBF3FA"/>
                </a:solidFill>
                <a:latin typeface="Aptos"/>
              </a:rPr>
              <a:t>Backend kayitli encoder, scaler ve feature kolonlarini kullanir.</a:t>
            </a:r>
          </a:p>
        </p:txBody>
      </p:sp>
      <p:sp>
        <p:nvSpPr>
          <p:cNvPr id="17" name="Oval 16"/>
          <p:cNvSpPr/>
          <p:nvPr/>
        </p:nvSpPr>
        <p:spPr>
          <a:xfrm>
            <a:off x="7662672" y="3840480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3767328"/>
            <a:ext cx="26060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10" b="0">
                <a:solidFill>
                  <a:srgbClr val="EBF3FA"/>
                </a:solidFill>
                <a:latin typeface="Aptos"/>
              </a:rPr>
              <a:t>Dockerfile/Procfile deployment yolunu netlestirir.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SONUC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Proje yuksek basarimli bir regresyon modeli ve deploy edilebilir kullanici akisi ortaya koydu.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Ana deger yalnizca model skoru degil; veri temizliginden calisan tahmin arayuzune kadar tamamlanan ML surecidir.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2926080" cy="292608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2402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Ne basarildi?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86207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2788920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99,322 kullanilabilir satir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200400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3127248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TRY lokalize hedef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53872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465576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0.968 test R2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87705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3803904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Flask UI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011680"/>
            <a:ext cx="2926080" cy="292608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304288"/>
            <a:ext cx="22402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Sinirlar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286207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7" y="2788920"/>
            <a:ext cx="2487169" cy="4093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10" b="0" dirty="0">
                <a:solidFill>
                  <a:srgbClr val="EBF3FA"/>
                </a:solidFill>
                <a:latin typeface="Aptos"/>
              </a:rPr>
              <a:t>Kaynak UK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ilani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,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Turkiye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satis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verisi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degil</a:t>
            </a:r>
            <a:endParaRPr sz="1210" b="0" dirty="0">
              <a:solidFill>
                <a:srgbClr val="EBF3FA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572000" y="3264408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7448" y="3181256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 dirty="0">
                <a:solidFill>
                  <a:srgbClr val="EBF3FA"/>
                </a:solidFill>
                <a:latin typeface="Aptos"/>
              </a:rPr>
              <a:t>Sabit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kur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ve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vergi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varsayimi</a:t>
            </a:r>
            <a:endParaRPr sz="1210" b="0" dirty="0">
              <a:solidFill>
                <a:srgbClr val="EBF3FA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572000" y="353872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7" y="3444366"/>
            <a:ext cx="2274845" cy="4093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10" b="0" dirty="0">
                <a:solidFill>
                  <a:srgbClr val="EBF3FA"/>
                </a:solidFill>
                <a:latin typeface="Aptos"/>
              </a:rPr>
              <a:t>Nadir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modeller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Other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olarak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gruplandi</a:t>
            </a:r>
            <a:endParaRPr sz="1210" b="0" dirty="0">
              <a:solidFill>
                <a:srgbClr val="EBF3FA"/>
              </a:solidFill>
              <a:latin typeface="Apto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572000" y="3931920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7447" y="3860913"/>
            <a:ext cx="2159995" cy="4093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10" b="0" dirty="0">
                <a:solidFill>
                  <a:srgbClr val="EBF3FA"/>
                </a:solidFill>
                <a:latin typeface="Aptos"/>
              </a:rPr>
              <a:t>Canli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piyasa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/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enflasyon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EBF3FA"/>
                </a:solidFill>
                <a:latin typeface="Aptos"/>
              </a:rPr>
              <a:t>guncellemesi</a:t>
            </a:r>
            <a:r>
              <a:rPr sz="1210" b="0" dirty="0">
                <a:solidFill>
                  <a:srgbClr val="EBF3FA"/>
                </a:solidFill>
                <a:latin typeface="Aptos"/>
              </a:rPr>
              <a:t> yok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011680"/>
            <a:ext cx="2926080" cy="292608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2304288"/>
            <a:ext cx="22402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Sonraki adimlar</a:t>
            </a:r>
          </a:p>
        </p:txBody>
      </p:sp>
      <p:sp>
        <p:nvSpPr>
          <p:cNvPr id="29" name="Oval 28"/>
          <p:cNvSpPr/>
          <p:nvPr/>
        </p:nvSpPr>
        <p:spPr>
          <a:xfrm>
            <a:off x="8138160" y="286207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93608" y="2788920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Yerel pazar verisi eklemek</a:t>
            </a:r>
          </a:p>
        </p:txBody>
      </p:sp>
      <p:sp>
        <p:nvSpPr>
          <p:cNvPr id="31" name="Oval 30"/>
          <p:cNvSpPr/>
          <p:nvPr/>
        </p:nvSpPr>
        <p:spPr>
          <a:xfrm>
            <a:off x="8138160" y="3200400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93608" y="3127248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SHAP aciklamalari eklemek</a:t>
            </a:r>
          </a:p>
        </p:txBody>
      </p:sp>
      <p:sp>
        <p:nvSpPr>
          <p:cNvPr id="33" name="Oval 32"/>
          <p:cNvSpPr/>
          <p:nvPr/>
        </p:nvSpPr>
        <p:spPr>
          <a:xfrm>
            <a:off x="8138160" y="353872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93608" y="3465576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Model drift takibi</a:t>
            </a:r>
          </a:p>
        </p:txBody>
      </p:sp>
      <p:sp>
        <p:nvSpPr>
          <p:cNvPr id="35" name="Oval 34"/>
          <p:cNvSpPr/>
          <p:nvPr/>
        </p:nvSpPr>
        <p:spPr>
          <a:xfrm>
            <a:off x="8138160" y="387705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93608" y="3803904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Guven araligi uretmek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42432"/>
            <a:ext cx="9966960" cy="4216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50" b="1" dirty="0" err="1">
                <a:solidFill>
                  <a:srgbClr val="EBF3FA"/>
                </a:solidFill>
                <a:latin typeface="Aptos"/>
              </a:rPr>
              <a:t>Sonuc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: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PrecisionAutoAI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veri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edinme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, preprocessing, feature engineering, model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secimi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, tuning,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degerlendirme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,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yorumlama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ve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 UI deployment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adimlarini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kapsayan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 tam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bir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 ML </a:t>
            </a:r>
            <a:r>
              <a:rPr sz="1250" b="1" dirty="0" err="1">
                <a:solidFill>
                  <a:srgbClr val="EBF3FA"/>
                </a:solidFill>
                <a:latin typeface="Aptos"/>
              </a:rPr>
              <a:t>projesidir</a:t>
            </a:r>
            <a:r>
              <a:rPr sz="1250" b="1" dirty="0">
                <a:solidFill>
                  <a:srgbClr val="EBF3FA"/>
                </a:solidFill>
                <a:latin typeface="Aptos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Ikinci el arac fiyat tahmini ML projesi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1196</Words>
  <Application>Microsoft Office PowerPoint</Application>
  <PresentationFormat>Geniş ekran</PresentationFormat>
  <Paragraphs>244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Muhammed Yuşa DUYMAZ</cp:lastModifiedBy>
  <cp:revision>22</cp:revision>
  <dcterms:created xsi:type="dcterms:W3CDTF">2013-01-27T09:14:16Z</dcterms:created>
  <dcterms:modified xsi:type="dcterms:W3CDTF">2026-06-03T16:40:06Z</dcterms:modified>
  <cp:category/>
</cp:coreProperties>
</file>